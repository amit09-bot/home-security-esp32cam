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7556500" cy="6858000"/>
  <p:notesSz cx="75565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2125980"/>
            <a:ext cx="6428422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3840480"/>
            <a:ext cx="529399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1577340"/>
            <a:ext cx="3289839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1577340"/>
            <a:ext cx="3289839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3505" y="1924938"/>
            <a:ext cx="2879725" cy="270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728" y="1244878"/>
            <a:ext cx="6368415" cy="428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6377940"/>
            <a:ext cx="242011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6377940"/>
            <a:ext cx="1739455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6377940"/>
            <a:ext cx="1739455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ijraset.com/research-paper/iot-based-home-monitoring-system-using-esp32cam-surveillance?utm_source=chatgpt.com" TargetMode="External"/><Relationship Id="rId3" Type="http://schemas.openxmlformats.org/officeDocument/2006/relationships/hyperlink" Target="https://www.ijraset.com/research-paper/health-mirror?utm_source=chatgpt.com" TargetMode="External"/><Relationship Id="rId4" Type="http://schemas.openxmlformats.org/officeDocument/2006/relationships/hyperlink" Target="https://www.ijraset.com/research-paper/wi-fi-pan-tilt-surveillance-camera?utm_source=chatgpt.com" TargetMode="External"/><Relationship Id="rId5" Type="http://schemas.openxmlformats.org/officeDocument/2006/relationships/hyperlink" Target="https://www.ijert.org/design-development-of-smart-mirror-displaying-real-time-sensor-data?utm_source=chatgpt.com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011" y="513080"/>
            <a:ext cx="5037455" cy="574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2590"/>
              </a:lnSpc>
              <a:spcBef>
                <a:spcPts val="130"/>
              </a:spcBef>
            </a:pPr>
            <a:r>
              <a:rPr dirty="0" sz="2200"/>
              <a:t>Government</a:t>
            </a:r>
            <a:r>
              <a:rPr dirty="0" sz="2200" spc="120"/>
              <a:t> </a:t>
            </a:r>
            <a:r>
              <a:rPr dirty="0" sz="2200"/>
              <a:t>Engineering</a:t>
            </a:r>
            <a:r>
              <a:rPr dirty="0" sz="2200" spc="60"/>
              <a:t> </a:t>
            </a:r>
            <a:r>
              <a:rPr dirty="0" sz="2200" spc="-10"/>
              <a:t>College,Naragund</a:t>
            </a:r>
            <a:endParaRPr sz="2200"/>
          </a:p>
          <a:p>
            <a:pPr algn="ctr">
              <a:lnSpc>
                <a:spcPts val="1689"/>
              </a:lnSpc>
            </a:pPr>
            <a:r>
              <a:rPr dirty="0" sz="1450"/>
              <a:t>Department</a:t>
            </a:r>
            <a:r>
              <a:rPr dirty="0" sz="1450" spc="120"/>
              <a:t> </a:t>
            </a:r>
            <a:r>
              <a:rPr dirty="0" sz="1450"/>
              <a:t>of</a:t>
            </a:r>
            <a:r>
              <a:rPr dirty="0" sz="1450" spc="85"/>
              <a:t> </a:t>
            </a:r>
            <a:r>
              <a:rPr dirty="0" sz="1450"/>
              <a:t>Collegiate</a:t>
            </a:r>
            <a:r>
              <a:rPr dirty="0" sz="1450" spc="114"/>
              <a:t> </a:t>
            </a:r>
            <a:r>
              <a:rPr dirty="0" sz="1450"/>
              <a:t>and</a:t>
            </a:r>
            <a:r>
              <a:rPr dirty="0" sz="1450" spc="60"/>
              <a:t> </a:t>
            </a:r>
            <a:r>
              <a:rPr dirty="0" sz="1450"/>
              <a:t>Technical</a:t>
            </a:r>
            <a:r>
              <a:rPr dirty="0" sz="1450" spc="110"/>
              <a:t> </a:t>
            </a:r>
            <a:r>
              <a:rPr dirty="0" sz="1450" spc="-10"/>
              <a:t>Education</a:t>
            </a:r>
            <a:endParaRPr sz="1450"/>
          </a:p>
        </p:txBody>
      </p:sp>
      <p:sp>
        <p:nvSpPr>
          <p:cNvPr id="3" name="object 3" descr=""/>
          <p:cNvSpPr txBox="1"/>
          <p:nvPr/>
        </p:nvSpPr>
        <p:spPr>
          <a:xfrm>
            <a:off x="1706117" y="3390036"/>
            <a:ext cx="4144645" cy="1070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53465" marR="1043305">
              <a:lnSpc>
                <a:spcPct val="1113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Major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 </a:t>
            </a:r>
            <a:r>
              <a:rPr dirty="0" sz="1600" spc="-10">
                <a:latin typeface="Times New Roman"/>
                <a:cs typeface="Times New Roman"/>
              </a:rPr>
              <a:t>Phase-</a:t>
            </a:r>
            <a:r>
              <a:rPr dirty="0" sz="1600" spc="-25">
                <a:latin typeface="Times New Roman"/>
                <a:cs typeface="Times New Roman"/>
              </a:rPr>
              <a:t>II On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solidFill>
                  <a:srgbClr val="C55A11"/>
                </a:solidFill>
                <a:latin typeface="Times New Roman"/>
                <a:cs typeface="Times New Roman"/>
              </a:rPr>
              <a:t>“HOME</a:t>
            </a:r>
            <a:r>
              <a:rPr dirty="0" sz="1400" spc="-25" b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C55A11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-55" b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C55A11"/>
                </a:solidFill>
                <a:latin typeface="Times New Roman"/>
                <a:cs typeface="Times New Roman"/>
              </a:rPr>
              <a:t>SYSTEM</a:t>
            </a:r>
            <a:r>
              <a:rPr dirty="0" sz="1400" spc="-5" b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C55A11"/>
                </a:solidFill>
                <a:latin typeface="Times New Roman"/>
                <a:cs typeface="Times New Roman"/>
              </a:rPr>
              <a:t>USING</a:t>
            </a:r>
            <a:r>
              <a:rPr dirty="0" sz="1400" spc="-10" b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C55A11"/>
                </a:solidFill>
                <a:latin typeface="Times New Roman"/>
                <a:cs typeface="Times New Roman"/>
              </a:rPr>
              <a:t>ESP32-</a:t>
            </a:r>
            <a:r>
              <a:rPr dirty="0" sz="1400" spc="-20" b="1">
                <a:solidFill>
                  <a:srgbClr val="C55A11"/>
                </a:solidFill>
                <a:latin typeface="Times New Roman"/>
                <a:cs typeface="Times New Roman"/>
              </a:rPr>
              <a:t>CAM”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400">
                <a:latin typeface="Times New Roman"/>
                <a:cs typeface="Times New Roman"/>
              </a:rPr>
              <a:t>Department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Artificial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0">
                <a:latin typeface="Times New Roman"/>
                <a:cs typeface="Times New Roman"/>
              </a:rPr>
              <a:t> Science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30885" y="4928428"/>
          <a:ext cx="6517640" cy="1358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1025"/>
                <a:gridCol w="1733550"/>
                <a:gridCol w="2855595"/>
              </a:tblGrid>
              <a:tr h="450215">
                <a:tc>
                  <a:txBody>
                    <a:bodyPr/>
                    <a:lstStyle/>
                    <a:p>
                      <a:pPr marL="612140">
                        <a:lnSpc>
                          <a:spcPts val="131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Presented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By: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3935">
                        <a:lnSpc>
                          <a:spcPts val="131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Guidance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64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Prof.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ASHWINI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KALE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92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AMIT</a:t>
                      </a:r>
                      <a:r>
                        <a:rPr dirty="0" sz="12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DHAVALESHWAR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2NR22AD002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6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ANIL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2NR22AD004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7823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Guidance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/>
                </a:tc>
              </a:tr>
              <a:tr h="254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HEMA</a:t>
                      </a:r>
                      <a:r>
                        <a:rPr dirty="0" sz="1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CHALESARA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2NR22AD009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 marL="703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Prof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DEEPA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MANAVACHARI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/>
                </a:tc>
              </a:tr>
              <a:tr h="198755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10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VISHNU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2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SHETTY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60"/>
                        </a:lnSpc>
                        <a:spcBef>
                          <a:spcPts val="10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2NR22AD039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306311" y="275602"/>
            <a:ext cx="6947534" cy="6306820"/>
            <a:chOff x="306311" y="275602"/>
            <a:chExt cx="6947534" cy="630682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3208" y="2460569"/>
              <a:ext cx="175093" cy="17136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164" y="1345516"/>
              <a:ext cx="1829054" cy="185831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20598" y="289890"/>
              <a:ext cx="6918959" cy="6278245"/>
            </a:xfrm>
            <a:custGeom>
              <a:avLst/>
              <a:gdLst/>
              <a:ahLst/>
              <a:cxnLst/>
              <a:rect l="l" t="t" r="r" b="b"/>
              <a:pathLst>
                <a:path w="6918959" h="6278245">
                  <a:moveTo>
                    <a:pt x="0" y="6278245"/>
                  </a:moveTo>
                  <a:lnTo>
                    <a:pt x="6918452" y="6278245"/>
                  </a:lnTo>
                  <a:lnTo>
                    <a:pt x="6918452" y="0"/>
                  </a:lnTo>
                  <a:lnTo>
                    <a:pt x="0" y="0"/>
                  </a:lnTo>
                  <a:lnTo>
                    <a:pt x="0" y="6278245"/>
                  </a:lnTo>
                  <a:close/>
                </a:path>
              </a:pathLst>
            </a:custGeom>
            <a:ln w="28574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474" y="1809279"/>
              <a:ext cx="192487" cy="34917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376" y="1581912"/>
              <a:ext cx="480822" cy="76885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2427" y="2026920"/>
              <a:ext cx="509777" cy="127482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49557" y="2148149"/>
              <a:ext cx="175998" cy="17136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8783" y="2043683"/>
              <a:ext cx="345186" cy="11635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98492" y="1906524"/>
              <a:ext cx="377189" cy="171068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1707" y="1699259"/>
              <a:ext cx="404622" cy="151561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2531" y="1857756"/>
              <a:ext cx="355854" cy="93954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72155" y="1749551"/>
              <a:ext cx="296418" cy="2948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728" y="684656"/>
            <a:ext cx="1179830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ABSTRACT-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8890" indent="755650">
              <a:lnSpc>
                <a:spcPct val="15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dirty="0" spc="75"/>
              <a:t> </a:t>
            </a:r>
            <a:r>
              <a:rPr dirty="0"/>
              <a:t>recent</a:t>
            </a:r>
            <a:r>
              <a:rPr dirty="0" spc="80"/>
              <a:t> </a:t>
            </a:r>
            <a:r>
              <a:rPr dirty="0"/>
              <a:t>times,</a:t>
            </a:r>
            <a:r>
              <a:rPr dirty="0" spc="80"/>
              <a:t> </a:t>
            </a:r>
            <a:r>
              <a:rPr dirty="0"/>
              <a:t>the</a:t>
            </a:r>
            <a:r>
              <a:rPr dirty="0" spc="85"/>
              <a:t> </a:t>
            </a:r>
            <a:r>
              <a:rPr dirty="0"/>
              <a:t>need</a:t>
            </a:r>
            <a:r>
              <a:rPr dirty="0" spc="80"/>
              <a:t> </a:t>
            </a:r>
            <a:r>
              <a:rPr dirty="0"/>
              <a:t>for</a:t>
            </a:r>
            <a:r>
              <a:rPr dirty="0" spc="80"/>
              <a:t> </a:t>
            </a:r>
            <a:r>
              <a:rPr dirty="0"/>
              <a:t>reliable</a:t>
            </a:r>
            <a:r>
              <a:rPr dirty="0" spc="80"/>
              <a:t> </a:t>
            </a:r>
            <a:r>
              <a:rPr dirty="0"/>
              <a:t>security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70"/>
              <a:t> </a:t>
            </a:r>
            <a:r>
              <a:rPr dirty="0"/>
              <a:t>protection</a:t>
            </a:r>
            <a:r>
              <a:rPr dirty="0" spc="85"/>
              <a:t> </a:t>
            </a:r>
            <a:r>
              <a:rPr dirty="0"/>
              <a:t>systems</a:t>
            </a:r>
            <a:r>
              <a:rPr dirty="0" spc="75"/>
              <a:t> </a:t>
            </a:r>
            <a:r>
              <a:rPr dirty="0"/>
              <a:t>has</a:t>
            </a:r>
            <a:r>
              <a:rPr dirty="0" spc="80"/>
              <a:t> </a:t>
            </a:r>
            <a:r>
              <a:rPr dirty="0" spc="-10"/>
              <a:t>increased </a:t>
            </a:r>
            <a:r>
              <a:rPr dirty="0"/>
              <a:t>significantly</a:t>
            </a:r>
            <a:r>
              <a:rPr dirty="0" spc="175"/>
              <a:t>  </a:t>
            </a:r>
            <a:r>
              <a:rPr dirty="0"/>
              <a:t>across</a:t>
            </a:r>
            <a:r>
              <a:rPr dirty="0" spc="190"/>
              <a:t>  </a:t>
            </a:r>
            <a:r>
              <a:rPr dirty="0"/>
              <a:t>industrial,</a:t>
            </a:r>
            <a:r>
              <a:rPr dirty="0" spc="190"/>
              <a:t>  </a:t>
            </a:r>
            <a:r>
              <a:rPr dirty="0"/>
              <a:t>commercial,</a:t>
            </a:r>
            <a:r>
              <a:rPr dirty="0" spc="190"/>
              <a:t>  </a:t>
            </a:r>
            <a:r>
              <a:rPr dirty="0"/>
              <a:t>and</a:t>
            </a:r>
            <a:r>
              <a:rPr dirty="0" spc="190"/>
              <a:t>  </a:t>
            </a:r>
            <a:r>
              <a:rPr dirty="0"/>
              <a:t>residential</a:t>
            </a:r>
            <a:r>
              <a:rPr dirty="0" spc="185"/>
              <a:t>  </a:t>
            </a:r>
            <a:r>
              <a:rPr dirty="0"/>
              <a:t>environments.</a:t>
            </a:r>
            <a:r>
              <a:rPr dirty="0" spc="190"/>
              <a:t>  </a:t>
            </a:r>
            <a:r>
              <a:rPr dirty="0"/>
              <a:t>With</a:t>
            </a:r>
            <a:r>
              <a:rPr dirty="0" spc="195"/>
              <a:t>  </a:t>
            </a:r>
            <a:r>
              <a:rPr dirty="0" spc="-10"/>
              <a:t>rapid </a:t>
            </a:r>
            <a:r>
              <a:rPr dirty="0"/>
              <a:t>advancements</a:t>
            </a:r>
            <a:r>
              <a:rPr dirty="0" spc="140"/>
              <a:t> </a:t>
            </a:r>
            <a:r>
              <a:rPr dirty="0"/>
              <a:t>in</a:t>
            </a:r>
            <a:r>
              <a:rPr dirty="0" spc="145"/>
              <a:t> </a:t>
            </a:r>
            <a:r>
              <a:rPr dirty="0"/>
              <a:t>technology,</a:t>
            </a:r>
            <a:r>
              <a:rPr dirty="0" spc="160"/>
              <a:t> </a:t>
            </a:r>
            <a:r>
              <a:rPr dirty="0"/>
              <a:t>modern</a:t>
            </a:r>
            <a:r>
              <a:rPr dirty="0" spc="140"/>
              <a:t> </a:t>
            </a:r>
            <a:r>
              <a:rPr dirty="0"/>
              <a:t>security</a:t>
            </a:r>
            <a:r>
              <a:rPr dirty="0" spc="135"/>
              <a:t> </a:t>
            </a:r>
            <a:r>
              <a:rPr dirty="0"/>
              <a:t>solutions</a:t>
            </a:r>
            <a:r>
              <a:rPr dirty="0" spc="145"/>
              <a:t> </a:t>
            </a:r>
            <a:r>
              <a:rPr dirty="0"/>
              <a:t>can</a:t>
            </a:r>
            <a:r>
              <a:rPr dirty="0" spc="145"/>
              <a:t> </a:t>
            </a:r>
            <a:r>
              <a:rPr dirty="0"/>
              <a:t>now</a:t>
            </a:r>
            <a:r>
              <a:rPr dirty="0" spc="145"/>
              <a:t> </a:t>
            </a:r>
            <a:r>
              <a:rPr dirty="0"/>
              <a:t>be</a:t>
            </a:r>
            <a:r>
              <a:rPr dirty="0" spc="140"/>
              <a:t> </a:t>
            </a:r>
            <a:r>
              <a:rPr dirty="0"/>
              <a:t>effectively</a:t>
            </a:r>
            <a:r>
              <a:rPr dirty="0" spc="125"/>
              <a:t> </a:t>
            </a:r>
            <a:r>
              <a:rPr dirty="0" spc="-10"/>
              <a:t>implemented </a:t>
            </a:r>
            <a:r>
              <a:rPr dirty="0"/>
              <a:t>within homes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enhance</a:t>
            </a:r>
            <a:r>
              <a:rPr dirty="0" spc="10"/>
              <a:t> </a:t>
            </a:r>
            <a:r>
              <a:rPr dirty="0"/>
              <a:t>safety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/>
              <a:t>access</a:t>
            </a:r>
            <a:r>
              <a:rPr dirty="0" spc="5"/>
              <a:t> </a:t>
            </a:r>
            <a:r>
              <a:rPr dirty="0"/>
              <a:t>control.</a:t>
            </a:r>
            <a:r>
              <a:rPr dirty="0" spc="20"/>
              <a:t> </a:t>
            </a:r>
            <a:r>
              <a:rPr dirty="0"/>
              <a:t>This</a:t>
            </a:r>
            <a:r>
              <a:rPr dirty="0" spc="5"/>
              <a:t> </a:t>
            </a:r>
            <a:r>
              <a:rPr dirty="0"/>
              <a:t>project</a:t>
            </a:r>
            <a:r>
              <a:rPr dirty="0" spc="10"/>
              <a:t> </a:t>
            </a:r>
            <a:r>
              <a:rPr dirty="0"/>
              <a:t>presents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/>
              <a:t>smart</a:t>
            </a:r>
            <a:r>
              <a:rPr dirty="0" spc="10"/>
              <a:t> </a:t>
            </a:r>
            <a:r>
              <a:rPr dirty="0"/>
              <a:t>home</a:t>
            </a:r>
            <a:r>
              <a:rPr dirty="0" spc="5"/>
              <a:t> </a:t>
            </a:r>
            <a:r>
              <a:rPr dirty="0" spc="-10"/>
              <a:t>security </a:t>
            </a:r>
            <a:r>
              <a:rPr dirty="0"/>
              <a:t>framework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5"/>
              <a:t> </a:t>
            </a:r>
            <a:r>
              <a:rPr dirty="0"/>
              <a:t>integrates</a:t>
            </a:r>
            <a:r>
              <a:rPr dirty="0" spc="-5"/>
              <a:t> </a:t>
            </a:r>
            <a:r>
              <a:rPr dirty="0"/>
              <a:t>an</a:t>
            </a:r>
            <a:r>
              <a:rPr dirty="0" spc="-5"/>
              <a:t> </a:t>
            </a:r>
            <a:r>
              <a:rPr dirty="0"/>
              <a:t>intelligent</a:t>
            </a:r>
            <a:r>
              <a:rPr dirty="0" spc="-10"/>
              <a:t> </a:t>
            </a:r>
            <a:r>
              <a:rPr dirty="0" b="1">
                <a:latin typeface="Times New Roman"/>
                <a:cs typeface="Times New Roman"/>
              </a:rPr>
              <a:t>face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recognition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system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/>
              <a:t>for authenticated</a:t>
            </a:r>
            <a:r>
              <a:rPr dirty="0" spc="-20"/>
              <a:t> </a:t>
            </a:r>
            <a:r>
              <a:rPr dirty="0"/>
              <a:t>entry.</a:t>
            </a:r>
            <a:r>
              <a:rPr dirty="0" spc="5"/>
              <a:t> </a:t>
            </a:r>
            <a:r>
              <a:rPr dirty="0" spc="-20"/>
              <a:t>When </a:t>
            </a:r>
            <a:r>
              <a:rPr dirty="0"/>
              <a:t>an</a:t>
            </a:r>
            <a:r>
              <a:rPr dirty="0" spc="5"/>
              <a:t> </a:t>
            </a:r>
            <a:r>
              <a:rPr dirty="0"/>
              <a:t>unknown</a:t>
            </a:r>
            <a:r>
              <a:rPr dirty="0" spc="5"/>
              <a:t> </a:t>
            </a:r>
            <a:r>
              <a:rPr dirty="0"/>
              <a:t>person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/>
              <a:t>detected</a:t>
            </a:r>
            <a:r>
              <a:rPr dirty="0" spc="10"/>
              <a:t> </a:t>
            </a:r>
            <a:r>
              <a:rPr dirty="0"/>
              <a:t>or</a:t>
            </a:r>
            <a:r>
              <a:rPr dirty="0" spc="10"/>
              <a:t> </a:t>
            </a:r>
            <a:r>
              <a:rPr dirty="0"/>
              <a:t>face</a:t>
            </a:r>
            <a:r>
              <a:rPr dirty="0" spc="10"/>
              <a:t> </a:t>
            </a:r>
            <a:r>
              <a:rPr dirty="0"/>
              <a:t>verification</a:t>
            </a:r>
            <a:r>
              <a:rPr dirty="0" spc="15"/>
              <a:t> </a:t>
            </a:r>
            <a:r>
              <a:rPr dirty="0"/>
              <a:t>fails,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system</a:t>
            </a:r>
            <a:r>
              <a:rPr dirty="0" spc="10"/>
              <a:t> </a:t>
            </a:r>
            <a:r>
              <a:rPr dirty="0"/>
              <a:t>immediately</a:t>
            </a:r>
            <a:r>
              <a:rPr dirty="0" spc="-10"/>
              <a:t> </a:t>
            </a:r>
            <a:r>
              <a:rPr dirty="0"/>
              <a:t>sends</a:t>
            </a:r>
            <a:r>
              <a:rPr dirty="0" spc="10"/>
              <a:t> </a:t>
            </a:r>
            <a:r>
              <a:rPr dirty="0"/>
              <a:t>an</a:t>
            </a:r>
            <a:r>
              <a:rPr dirty="0" spc="10"/>
              <a:t> </a:t>
            </a:r>
            <a:r>
              <a:rPr dirty="0" spc="-10" b="1">
                <a:latin typeface="Times New Roman"/>
                <a:cs typeface="Times New Roman"/>
              </a:rPr>
              <a:t>alert notification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to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the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owner’s</a:t>
            </a:r>
            <a:r>
              <a:rPr dirty="0" spc="-50" b="1">
                <a:latin typeface="Times New Roman"/>
                <a:cs typeface="Times New Roman"/>
              </a:rPr>
              <a:t> </a:t>
            </a:r>
            <a:r>
              <a:rPr dirty="0" spc="-20" b="1">
                <a:latin typeface="Times New Roman"/>
                <a:cs typeface="Times New Roman"/>
              </a:rPr>
              <a:t>Telegram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account</a:t>
            </a:r>
            <a:r>
              <a:rPr dirty="0"/>
              <a:t>,</a:t>
            </a:r>
            <a:r>
              <a:rPr dirty="0" spc="-10"/>
              <a:t> </a:t>
            </a:r>
            <a:r>
              <a:rPr dirty="0"/>
              <a:t>enabling</a:t>
            </a:r>
            <a:r>
              <a:rPr dirty="0" spc="-10"/>
              <a:t> </a:t>
            </a:r>
            <a:r>
              <a:rPr dirty="0"/>
              <a:t>quick</a:t>
            </a:r>
            <a:r>
              <a:rPr dirty="0" spc="-5"/>
              <a:t> </a:t>
            </a:r>
            <a:r>
              <a:rPr dirty="0"/>
              <a:t>awareness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response.</a:t>
            </a:r>
          </a:p>
          <a:p>
            <a:pPr algn="just" marL="12700" marR="5080" indent="755650">
              <a:lnSpc>
                <a:spcPct val="150000"/>
              </a:lnSpc>
              <a:spcBef>
                <a:spcPts val="805"/>
              </a:spcBef>
            </a:pPr>
            <a:r>
              <a:rPr dirty="0"/>
              <a:t>After</a:t>
            </a:r>
            <a:r>
              <a:rPr dirty="0" spc="-40"/>
              <a:t> </a:t>
            </a:r>
            <a:r>
              <a:rPr dirty="0"/>
              <a:t>successful</a:t>
            </a:r>
            <a:r>
              <a:rPr dirty="0" spc="-30"/>
              <a:t> </a:t>
            </a:r>
            <a:r>
              <a:rPr dirty="0"/>
              <a:t>recognition,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next</a:t>
            </a:r>
            <a:r>
              <a:rPr dirty="0" spc="-35"/>
              <a:t> </a:t>
            </a:r>
            <a:r>
              <a:rPr dirty="0"/>
              <a:t>stage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/>
              <a:t>control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handled</a:t>
            </a:r>
            <a:r>
              <a:rPr dirty="0" spc="-20"/>
              <a:t> </a:t>
            </a:r>
            <a:r>
              <a:rPr dirty="0"/>
              <a:t>manually</a:t>
            </a:r>
            <a:r>
              <a:rPr dirty="0" spc="-45"/>
              <a:t> </a:t>
            </a:r>
            <a:r>
              <a:rPr dirty="0" spc="-25"/>
              <a:t>by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homeowner.</a:t>
            </a:r>
            <a:r>
              <a:rPr dirty="0" spc="70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owner</a:t>
            </a:r>
            <a:r>
              <a:rPr dirty="0" spc="60"/>
              <a:t> </a:t>
            </a:r>
            <a:r>
              <a:rPr dirty="0"/>
              <a:t>uses</a:t>
            </a:r>
            <a:r>
              <a:rPr dirty="0" spc="60"/>
              <a:t> </a:t>
            </a:r>
            <a:r>
              <a:rPr dirty="0"/>
              <a:t>a</a:t>
            </a:r>
            <a:r>
              <a:rPr dirty="0" spc="65"/>
              <a:t> </a:t>
            </a:r>
            <a:r>
              <a:rPr dirty="0"/>
              <a:t>dedicated</a:t>
            </a:r>
            <a:r>
              <a:rPr dirty="0" spc="50"/>
              <a:t> </a:t>
            </a:r>
            <a:r>
              <a:rPr dirty="0" b="1">
                <a:latin typeface="Times New Roman"/>
                <a:cs typeface="Times New Roman"/>
              </a:rPr>
              <a:t>Arduino</a:t>
            </a:r>
            <a:r>
              <a:rPr dirty="0" spc="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Bluetooth</a:t>
            </a:r>
            <a:r>
              <a:rPr dirty="0" spc="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Control</a:t>
            </a:r>
            <a:r>
              <a:rPr dirty="0" spc="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application</a:t>
            </a:r>
            <a:r>
              <a:rPr dirty="0"/>
              <a:t>,</a:t>
            </a:r>
            <a:r>
              <a:rPr dirty="0" spc="65"/>
              <a:t> </a:t>
            </a:r>
            <a:r>
              <a:rPr dirty="0" spc="-10"/>
              <a:t>which </a:t>
            </a:r>
            <a:r>
              <a:rPr dirty="0"/>
              <a:t>communicates</a:t>
            </a:r>
            <a:r>
              <a:rPr dirty="0" spc="160"/>
              <a:t> </a:t>
            </a:r>
            <a:r>
              <a:rPr dirty="0"/>
              <a:t>with</a:t>
            </a:r>
            <a:r>
              <a:rPr dirty="0" spc="165"/>
              <a:t> </a:t>
            </a:r>
            <a:r>
              <a:rPr dirty="0"/>
              <a:t>a</a:t>
            </a:r>
            <a:r>
              <a:rPr dirty="0" spc="165"/>
              <a:t> </a:t>
            </a:r>
            <a:r>
              <a:rPr dirty="0" b="1">
                <a:latin typeface="Times New Roman"/>
                <a:cs typeface="Times New Roman"/>
              </a:rPr>
              <a:t>servo</a:t>
            </a:r>
            <a:r>
              <a:rPr dirty="0" spc="1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motor–based</a:t>
            </a:r>
            <a:r>
              <a:rPr dirty="0" spc="1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door</a:t>
            </a:r>
            <a:r>
              <a:rPr dirty="0" spc="1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lock</a:t>
            </a:r>
            <a:r>
              <a:rPr dirty="0" spc="17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mechanism</a:t>
            </a:r>
            <a:r>
              <a:rPr dirty="0"/>
              <a:t>.</a:t>
            </a:r>
            <a:r>
              <a:rPr dirty="0" spc="175"/>
              <a:t> </a:t>
            </a:r>
            <a:r>
              <a:rPr dirty="0"/>
              <a:t>Through</a:t>
            </a:r>
            <a:r>
              <a:rPr dirty="0" spc="160"/>
              <a:t> </a:t>
            </a:r>
            <a:r>
              <a:rPr dirty="0"/>
              <a:t>simple</a:t>
            </a:r>
            <a:r>
              <a:rPr dirty="0" spc="165"/>
              <a:t> </a:t>
            </a:r>
            <a:r>
              <a:rPr dirty="0" spc="-10"/>
              <a:t>ON/OFF </a:t>
            </a:r>
            <a:r>
              <a:rPr dirty="0"/>
              <a:t>switch</a:t>
            </a:r>
            <a:r>
              <a:rPr dirty="0" spc="120"/>
              <a:t> </a:t>
            </a:r>
            <a:r>
              <a:rPr dirty="0"/>
              <a:t>controls</a:t>
            </a:r>
            <a:r>
              <a:rPr dirty="0" spc="120"/>
              <a:t> </a:t>
            </a:r>
            <a:r>
              <a:rPr dirty="0"/>
              <a:t>in</a:t>
            </a:r>
            <a:r>
              <a:rPr dirty="0" spc="125"/>
              <a:t> </a:t>
            </a:r>
            <a:r>
              <a:rPr dirty="0"/>
              <a:t>the</a:t>
            </a:r>
            <a:r>
              <a:rPr dirty="0" spc="140"/>
              <a:t> </a:t>
            </a:r>
            <a:r>
              <a:rPr dirty="0"/>
              <a:t>app,</a:t>
            </a:r>
            <a:r>
              <a:rPr dirty="0" spc="114"/>
              <a:t> </a:t>
            </a:r>
            <a:r>
              <a:rPr dirty="0"/>
              <a:t>the</a:t>
            </a:r>
            <a:r>
              <a:rPr dirty="0" spc="125"/>
              <a:t> </a:t>
            </a:r>
            <a:r>
              <a:rPr dirty="0"/>
              <a:t>homeowner</a:t>
            </a:r>
            <a:r>
              <a:rPr dirty="0" spc="125"/>
              <a:t> </a:t>
            </a:r>
            <a:r>
              <a:rPr dirty="0"/>
              <a:t>can</a:t>
            </a:r>
            <a:r>
              <a:rPr dirty="0" spc="125"/>
              <a:t> </a:t>
            </a:r>
            <a:r>
              <a:rPr dirty="0"/>
              <a:t>remotely</a:t>
            </a:r>
            <a:r>
              <a:rPr dirty="0" spc="100"/>
              <a:t> </a:t>
            </a:r>
            <a:r>
              <a:rPr dirty="0"/>
              <a:t>open</a:t>
            </a:r>
            <a:r>
              <a:rPr dirty="0" spc="125"/>
              <a:t> </a:t>
            </a:r>
            <a:r>
              <a:rPr dirty="0"/>
              <a:t>or</a:t>
            </a:r>
            <a:r>
              <a:rPr dirty="0" spc="125"/>
              <a:t> </a:t>
            </a:r>
            <a:r>
              <a:rPr dirty="0"/>
              <a:t>close</a:t>
            </a:r>
            <a:r>
              <a:rPr dirty="0" spc="120"/>
              <a:t> </a:t>
            </a:r>
            <a:r>
              <a:rPr dirty="0"/>
              <a:t>the</a:t>
            </a:r>
            <a:r>
              <a:rPr dirty="0" spc="125"/>
              <a:t> </a:t>
            </a:r>
            <a:r>
              <a:rPr dirty="0"/>
              <a:t>door,</a:t>
            </a:r>
            <a:r>
              <a:rPr dirty="0" spc="125"/>
              <a:t> </a:t>
            </a:r>
            <a:r>
              <a:rPr dirty="0"/>
              <a:t>ensuring</a:t>
            </a:r>
            <a:r>
              <a:rPr dirty="0" spc="130"/>
              <a:t> </a:t>
            </a:r>
            <a:r>
              <a:rPr dirty="0" spc="-25"/>
              <a:t>an </a:t>
            </a:r>
            <a:r>
              <a:rPr dirty="0"/>
              <a:t>additional</a:t>
            </a:r>
            <a:r>
              <a:rPr dirty="0" spc="145"/>
              <a:t>  </a:t>
            </a:r>
            <a:r>
              <a:rPr dirty="0"/>
              <a:t>layer</a:t>
            </a:r>
            <a:r>
              <a:rPr dirty="0" spc="145"/>
              <a:t>  </a:t>
            </a:r>
            <a:r>
              <a:rPr dirty="0"/>
              <a:t>of</a:t>
            </a:r>
            <a:r>
              <a:rPr dirty="0" spc="155"/>
              <a:t>  </a:t>
            </a:r>
            <a:r>
              <a:rPr dirty="0"/>
              <a:t>manual</a:t>
            </a:r>
            <a:r>
              <a:rPr dirty="0" spc="140"/>
              <a:t>  </a:t>
            </a:r>
            <a:r>
              <a:rPr dirty="0"/>
              <a:t>verification</a:t>
            </a:r>
            <a:r>
              <a:rPr dirty="0" spc="150"/>
              <a:t>  </a:t>
            </a:r>
            <a:r>
              <a:rPr dirty="0"/>
              <a:t>and</a:t>
            </a:r>
            <a:r>
              <a:rPr dirty="0" spc="135"/>
              <a:t>  </a:t>
            </a:r>
            <a:r>
              <a:rPr dirty="0"/>
              <a:t>security.</a:t>
            </a:r>
            <a:r>
              <a:rPr dirty="0" spc="150"/>
              <a:t>  </a:t>
            </a:r>
            <a:r>
              <a:rPr dirty="0"/>
              <a:t>This</a:t>
            </a:r>
            <a:r>
              <a:rPr dirty="0" spc="140"/>
              <a:t>  </a:t>
            </a:r>
            <a:r>
              <a:rPr dirty="0"/>
              <a:t>hybrid</a:t>
            </a:r>
            <a:r>
              <a:rPr dirty="0" spc="140"/>
              <a:t>  </a:t>
            </a:r>
            <a:r>
              <a:rPr dirty="0" spc="-10"/>
              <a:t>system—combining </a:t>
            </a:r>
            <a:r>
              <a:rPr dirty="0"/>
              <a:t>automation</a:t>
            </a:r>
            <a:r>
              <a:rPr dirty="0" spc="110"/>
              <a:t> </a:t>
            </a:r>
            <a:r>
              <a:rPr dirty="0"/>
              <a:t>with</a:t>
            </a:r>
            <a:r>
              <a:rPr dirty="0" spc="114"/>
              <a:t> </a:t>
            </a:r>
            <a:r>
              <a:rPr dirty="0" spc="-20"/>
              <a:t>owner-</a:t>
            </a:r>
            <a:r>
              <a:rPr dirty="0"/>
              <a:t>controlled</a:t>
            </a:r>
            <a:r>
              <a:rPr dirty="0" spc="110"/>
              <a:t> </a:t>
            </a:r>
            <a:r>
              <a:rPr dirty="0" spc="-10"/>
              <a:t>access—</a:t>
            </a:r>
            <a:r>
              <a:rPr dirty="0"/>
              <a:t>provides</a:t>
            </a:r>
            <a:r>
              <a:rPr dirty="0" spc="114"/>
              <a:t> </a:t>
            </a:r>
            <a:r>
              <a:rPr dirty="0"/>
              <a:t>enhanced</a:t>
            </a:r>
            <a:r>
              <a:rPr dirty="0" spc="110"/>
              <a:t> </a:t>
            </a:r>
            <a:r>
              <a:rPr dirty="0"/>
              <a:t>protection,</a:t>
            </a:r>
            <a:r>
              <a:rPr dirty="0" spc="114"/>
              <a:t> </a:t>
            </a:r>
            <a:r>
              <a:rPr dirty="0"/>
              <a:t>flexibility,</a:t>
            </a:r>
            <a:r>
              <a:rPr dirty="0" spc="114"/>
              <a:t> </a:t>
            </a:r>
            <a:r>
              <a:rPr dirty="0"/>
              <a:t>and</a:t>
            </a:r>
            <a:r>
              <a:rPr dirty="0" spc="120"/>
              <a:t> </a:t>
            </a:r>
            <a:r>
              <a:rPr dirty="0" spc="-20"/>
              <a:t>user </a:t>
            </a:r>
            <a:r>
              <a:rPr dirty="0" spc="-10"/>
              <a:t>authority,</a:t>
            </a:r>
            <a:r>
              <a:rPr dirty="0" spc="5"/>
              <a:t> </a:t>
            </a:r>
            <a:r>
              <a:rPr dirty="0"/>
              <a:t>making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home</a:t>
            </a:r>
            <a:r>
              <a:rPr dirty="0" spc="-20"/>
              <a:t> </a:t>
            </a:r>
            <a:r>
              <a:rPr dirty="0"/>
              <a:t>security</a:t>
            </a:r>
            <a:r>
              <a:rPr dirty="0" spc="-30"/>
              <a:t> </a:t>
            </a:r>
            <a:r>
              <a:rPr dirty="0"/>
              <a:t>solution</a:t>
            </a:r>
            <a:r>
              <a:rPr dirty="0" spc="-35"/>
              <a:t> </a:t>
            </a:r>
            <a:r>
              <a:rPr dirty="0"/>
              <a:t>both</a:t>
            </a:r>
            <a:r>
              <a:rPr dirty="0" spc="-35"/>
              <a:t> </a:t>
            </a:r>
            <a:r>
              <a:rPr dirty="0" spc="-10"/>
              <a:t>intelligent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trustworthy.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320598" y="289890"/>
            <a:ext cx="6918959" cy="6278245"/>
          </a:xfrm>
          <a:custGeom>
            <a:avLst/>
            <a:gdLst/>
            <a:ahLst/>
            <a:cxnLst/>
            <a:rect l="l" t="t" r="r" b="b"/>
            <a:pathLst>
              <a:path w="6918959" h="6278245">
                <a:moveTo>
                  <a:pt x="0" y="6278245"/>
                </a:moveTo>
                <a:lnTo>
                  <a:pt x="6918452" y="6278245"/>
                </a:lnTo>
                <a:lnTo>
                  <a:pt x="6918452" y="0"/>
                </a:lnTo>
                <a:lnTo>
                  <a:pt x="0" y="0"/>
                </a:lnTo>
                <a:lnTo>
                  <a:pt x="0" y="6278245"/>
                </a:lnTo>
                <a:close/>
              </a:path>
            </a:pathLst>
          </a:custGeom>
          <a:ln w="28574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12" y="310654"/>
            <a:ext cx="6950075" cy="62367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54125" y="661797"/>
            <a:ext cx="2377440" cy="4994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CONTENTS: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ABSTRACT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PROBLEM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OBJECTIVES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25">
                <a:latin typeface="Times New Roman"/>
                <a:cs typeface="Times New Roman"/>
              </a:rPr>
              <a:t>LITERATURE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SURVEY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REQURIMENTS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RESULTS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8728" y="777367"/>
            <a:ext cx="1714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INTRODUCTION: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8728" y="1631391"/>
            <a:ext cx="6363970" cy="2854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76835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today’s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world,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major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concern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due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50000"/>
              </a:lnSpc>
              <a:spcBef>
                <a:spcPts val="42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rise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intrusions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thefts.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often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depend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>
                <a:latin typeface="Times New Roman"/>
                <a:cs typeface="Times New Roman"/>
              </a:rPr>
              <a:t>manual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expensive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hardware,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making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them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inaccessible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many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users.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proposed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ESP32-CAM-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3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home</a:t>
            </a:r>
            <a:r>
              <a:rPr dirty="0" sz="1400" spc="3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3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system</a:t>
            </a:r>
            <a:r>
              <a:rPr dirty="0" sz="1400" spc="3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offers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smart,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affordable,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combining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camera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surveillance,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motion </a:t>
            </a:r>
            <a:r>
              <a:rPr dirty="0" sz="1400">
                <a:latin typeface="Times New Roman"/>
                <a:cs typeface="Times New Roman"/>
              </a:rPr>
              <a:t>detection,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alerts.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IoT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technology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processing,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allows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remotely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homes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anywhere.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enhances </a:t>
            </a:r>
            <a:r>
              <a:rPr dirty="0" sz="1400">
                <a:latin typeface="Times New Roman"/>
                <a:cs typeface="Times New Roman"/>
              </a:rPr>
              <a:t>safety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convenience,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reliability,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scalability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making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ideal </a:t>
            </a:r>
            <a:r>
              <a:rPr dirty="0" sz="1400">
                <a:latin typeface="Times New Roman"/>
                <a:cs typeface="Times New Roman"/>
              </a:rPr>
              <a:t>choice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smart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homes</a:t>
            </a:r>
            <a:r>
              <a:rPr dirty="0" sz="1400" spc="-1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90068" y="243204"/>
            <a:ext cx="6979920" cy="6255385"/>
          </a:xfrm>
          <a:custGeom>
            <a:avLst/>
            <a:gdLst/>
            <a:ahLst/>
            <a:cxnLst/>
            <a:rect l="l" t="t" r="r" b="b"/>
            <a:pathLst>
              <a:path w="6979920" h="6255385">
                <a:moveTo>
                  <a:pt x="0" y="6254877"/>
                </a:moveTo>
                <a:lnTo>
                  <a:pt x="6979539" y="6254877"/>
                </a:lnTo>
                <a:lnTo>
                  <a:pt x="6979539" y="0"/>
                </a:lnTo>
                <a:lnTo>
                  <a:pt x="0" y="0"/>
                </a:lnTo>
                <a:lnTo>
                  <a:pt x="0" y="6254877"/>
                </a:lnTo>
                <a:close/>
              </a:path>
            </a:pathLst>
          </a:custGeom>
          <a:ln w="28574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4052" y="1095578"/>
            <a:ext cx="2400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PROBLEM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30" b="1">
                <a:latin typeface="Times New Roman"/>
                <a:cs typeface="Times New Roman"/>
              </a:rPr>
              <a:t>STATEMENT: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3455" y="1980437"/>
            <a:ext cx="6613525" cy="2219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1915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Conventional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home</a:t>
            </a:r>
            <a:r>
              <a:rPr dirty="0" sz="1600" spc="1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1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1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either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manually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operated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60000"/>
              </a:lnSpc>
            </a:pPr>
            <a:r>
              <a:rPr dirty="0" sz="1600">
                <a:latin typeface="Times New Roman"/>
                <a:cs typeface="Times New Roman"/>
              </a:rPr>
              <a:t>use</a:t>
            </a:r>
            <a:r>
              <a:rPr dirty="0" sz="1600" spc="3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limited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automation,</a:t>
            </a:r>
            <a:r>
              <a:rPr dirty="0" sz="1600" spc="3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lacking</a:t>
            </a:r>
            <a:r>
              <a:rPr dirty="0" sz="1600" spc="3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intelligent</a:t>
            </a:r>
            <a:r>
              <a:rPr dirty="0" sz="1600" spc="3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3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verification.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often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leads</a:t>
            </a:r>
            <a:r>
              <a:rPr dirty="0" sz="1600" spc="11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false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alarms,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delayed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responses,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breaches.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proposed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ESP32-</a:t>
            </a:r>
            <a:r>
              <a:rPr dirty="0" sz="1600" spc="-20" b="1">
                <a:latin typeface="Times New Roman"/>
                <a:cs typeface="Times New Roman"/>
              </a:rPr>
              <a:t>CAM-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capture,</a:t>
            </a:r>
            <a:r>
              <a:rPr dirty="0" sz="1600" spc="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motion </a:t>
            </a:r>
            <a:r>
              <a:rPr dirty="0" sz="1600">
                <a:latin typeface="Times New Roman"/>
                <a:cs typeface="Times New Roman"/>
              </a:rPr>
              <a:t>detection,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alerts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enhance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security,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accuracy,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control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a </a:t>
            </a:r>
            <a:r>
              <a:rPr dirty="0" sz="1600" spc="-10">
                <a:latin typeface="Times New Roman"/>
                <a:cs typeface="Times New Roman"/>
              </a:rPr>
              <a:t>cost-</a:t>
            </a:r>
            <a:r>
              <a:rPr dirty="0" sz="1600">
                <a:latin typeface="Times New Roman"/>
                <a:cs typeface="Times New Roman"/>
              </a:rPr>
              <a:t>effective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manner.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90068" y="316153"/>
            <a:ext cx="6979920" cy="6123940"/>
          </a:xfrm>
          <a:custGeom>
            <a:avLst/>
            <a:gdLst/>
            <a:ahLst/>
            <a:cxnLst/>
            <a:rect l="l" t="t" r="r" b="b"/>
            <a:pathLst>
              <a:path w="6979920" h="6123940">
                <a:moveTo>
                  <a:pt x="0" y="6123559"/>
                </a:moveTo>
                <a:lnTo>
                  <a:pt x="6979539" y="6123559"/>
                </a:lnTo>
                <a:lnTo>
                  <a:pt x="6979539" y="0"/>
                </a:lnTo>
                <a:lnTo>
                  <a:pt x="0" y="0"/>
                </a:lnTo>
                <a:lnTo>
                  <a:pt x="0" y="6123559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4779" y="124714"/>
            <a:ext cx="6472555" cy="592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OBJECTIVES: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Objectives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follows…..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355600" marR="8890" indent="-342900">
              <a:lnSpc>
                <a:spcPct val="1501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19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develop</a:t>
            </a:r>
            <a:r>
              <a:rPr dirty="0" sz="1500" spc="204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17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real-</a:t>
            </a:r>
            <a:r>
              <a:rPr dirty="0" sz="1500">
                <a:latin typeface="Times New Roman"/>
                <a:cs typeface="Times New Roman"/>
              </a:rPr>
              <a:t>time</a:t>
            </a:r>
            <a:r>
              <a:rPr dirty="0" sz="1500" spc="1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home</a:t>
            </a:r>
            <a:r>
              <a:rPr dirty="0" sz="1500" spc="1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security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using</a:t>
            </a:r>
            <a:r>
              <a:rPr dirty="0" sz="1500" spc="1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18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ESP32-</a:t>
            </a:r>
            <a:r>
              <a:rPr dirty="0" sz="1500">
                <a:latin typeface="Times New Roman"/>
                <a:cs typeface="Times New Roman"/>
              </a:rPr>
              <a:t>CAM</a:t>
            </a:r>
            <a:r>
              <a:rPr dirty="0" sz="1500" spc="20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module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captures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transmits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images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detected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motion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face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via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Telegram.</a:t>
            </a:r>
            <a:endParaRPr sz="15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790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implement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wireless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communication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remote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monitoring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using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25">
                <a:latin typeface="Times New Roman"/>
                <a:cs typeface="Times New Roman"/>
              </a:rPr>
              <a:t>IoT </a:t>
            </a:r>
            <a:r>
              <a:rPr dirty="0" sz="1500">
                <a:latin typeface="Times New Roman"/>
                <a:cs typeface="Times New Roman"/>
              </a:rPr>
              <a:t>technology,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allowing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homeowners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access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live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alerts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images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20">
                <a:latin typeface="Times New Roman"/>
                <a:cs typeface="Times New Roman"/>
              </a:rPr>
              <a:t>from </a:t>
            </a:r>
            <a:r>
              <a:rPr dirty="0" sz="1500" spc="-10">
                <a:latin typeface="Times New Roman"/>
                <a:cs typeface="Times New Roman"/>
              </a:rPr>
              <a:t>anywhere.</a:t>
            </a:r>
            <a:endParaRPr sz="1500">
              <a:latin typeface="Times New Roman"/>
              <a:cs typeface="Times New Roman"/>
            </a:endParaRPr>
          </a:p>
          <a:p>
            <a:pPr algn="just" marL="355600" marR="8255" indent="-342900">
              <a:lnSpc>
                <a:spcPct val="150000"/>
              </a:lnSpc>
              <a:spcBef>
                <a:spcPts val="805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13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integrate</a:t>
            </a:r>
            <a:r>
              <a:rPr dirty="0" sz="1500" spc="125">
                <a:latin typeface="Times New Roman"/>
                <a:cs typeface="Times New Roman"/>
              </a:rPr>
              <a:t>  </a:t>
            </a:r>
            <a:r>
              <a:rPr dirty="0" sz="1500" spc="-10">
                <a:latin typeface="Times New Roman"/>
                <a:cs typeface="Times New Roman"/>
              </a:rPr>
              <a:t>AI/ML-</a:t>
            </a:r>
            <a:r>
              <a:rPr dirty="0" sz="1500">
                <a:latin typeface="Times New Roman"/>
                <a:cs typeface="Times New Roman"/>
              </a:rPr>
              <a:t>based</a:t>
            </a:r>
            <a:r>
              <a:rPr dirty="0" sz="1500" spc="13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face</a:t>
            </a:r>
            <a:r>
              <a:rPr dirty="0" sz="1500" spc="12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detection</a:t>
            </a:r>
            <a:r>
              <a:rPr dirty="0" sz="1500" spc="12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13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identifying</a:t>
            </a:r>
            <a:r>
              <a:rPr dirty="0" sz="1500" spc="12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authorized</a:t>
            </a:r>
            <a:r>
              <a:rPr dirty="0" sz="1500" spc="130">
                <a:latin typeface="Times New Roman"/>
                <a:cs typeface="Times New Roman"/>
              </a:rPr>
              <a:t>  </a:t>
            </a:r>
            <a:r>
              <a:rPr dirty="0" sz="1500" spc="-25">
                <a:latin typeface="Times New Roman"/>
                <a:cs typeface="Times New Roman"/>
              </a:rPr>
              <a:t>and </a:t>
            </a:r>
            <a:r>
              <a:rPr dirty="0" sz="1500">
                <a:latin typeface="Times New Roman"/>
                <a:cs typeface="Times New Roman"/>
              </a:rPr>
              <a:t>unauthorized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individuals,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enhancing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security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intelligence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system.</a:t>
            </a:r>
            <a:endParaRPr sz="1500">
              <a:latin typeface="Times New Roman"/>
              <a:cs typeface="Times New Roman"/>
            </a:endParaRPr>
          </a:p>
          <a:p>
            <a:pPr algn="just" marL="355600" marR="6350" indent="-342900">
              <a:lnSpc>
                <a:spcPct val="150000"/>
              </a:lnSpc>
              <a:spcBef>
                <a:spcPts val="805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10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automate</a:t>
            </a:r>
            <a:r>
              <a:rPr dirty="0" sz="1500" spc="10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door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control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using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Arduino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Uno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114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10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servo</a:t>
            </a:r>
            <a:r>
              <a:rPr dirty="0" sz="1500" spc="10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motor,</a:t>
            </a:r>
            <a:r>
              <a:rPr dirty="0" sz="1500" spc="10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enabling</a:t>
            </a:r>
            <a:r>
              <a:rPr dirty="0" sz="1500" spc="105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the </a:t>
            </a:r>
            <a:r>
              <a:rPr dirty="0" sz="1500">
                <a:latin typeface="Times New Roman"/>
                <a:cs typeface="Times New Roman"/>
              </a:rPr>
              <a:t>system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open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close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door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only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after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user</a:t>
            </a:r>
            <a:r>
              <a:rPr dirty="0" sz="1500" spc="-10">
                <a:latin typeface="Times New Roman"/>
                <a:cs typeface="Times New Roman"/>
              </a:rPr>
              <a:t> verification.</a:t>
            </a:r>
            <a:endParaRPr sz="1500">
              <a:latin typeface="Times New Roman"/>
              <a:cs typeface="Times New Roman"/>
            </a:endParaRPr>
          </a:p>
          <a:p>
            <a:pPr algn="just" marL="355600" marR="9525" indent="-342900">
              <a:lnSpc>
                <a:spcPct val="150000"/>
              </a:lnSpc>
              <a:spcBef>
                <a:spcPts val="795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4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minimize</a:t>
            </a:r>
            <a:r>
              <a:rPr dirty="0" sz="1500" spc="4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false</a:t>
            </a:r>
            <a:r>
              <a:rPr dirty="0" sz="1500" spc="4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alarms</a:t>
            </a:r>
            <a:r>
              <a:rPr dirty="0" sz="1500" spc="4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4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enhance</a:t>
            </a:r>
            <a:r>
              <a:rPr dirty="0" sz="1500" spc="459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reliability</a:t>
            </a:r>
            <a:r>
              <a:rPr dirty="0" sz="1500" spc="459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through</a:t>
            </a:r>
            <a:r>
              <a:rPr dirty="0" sz="1500" spc="4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efficient</a:t>
            </a:r>
            <a:r>
              <a:rPr dirty="0" sz="1500" spc="4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image </a:t>
            </a:r>
            <a:r>
              <a:rPr dirty="0" sz="1500">
                <a:latin typeface="Times New Roman"/>
                <a:cs typeface="Times New Roman"/>
              </a:rPr>
              <a:t>processing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secure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cloud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communication.</a:t>
            </a:r>
            <a:endParaRPr sz="1500">
              <a:latin typeface="Times New Roman"/>
              <a:cs typeface="Times New Roman"/>
            </a:endParaRPr>
          </a:p>
          <a:p>
            <a:pPr algn="just" marL="355600" marR="7620" indent="-342900">
              <a:lnSpc>
                <a:spcPct val="150000"/>
              </a:lnSpc>
              <a:spcBef>
                <a:spcPts val="805"/>
              </a:spcBef>
              <a:buAutoNum type="arabicPeriod"/>
              <a:tabLst>
                <a:tab pos="355600" algn="l"/>
              </a:tabLst>
            </a:pP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create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65">
                <a:latin typeface="Times New Roman"/>
                <a:cs typeface="Times New Roman"/>
              </a:rPr>
              <a:t>  </a:t>
            </a:r>
            <a:r>
              <a:rPr dirty="0" sz="1500" spc="-10">
                <a:latin typeface="Times New Roman"/>
                <a:cs typeface="Times New Roman"/>
              </a:rPr>
              <a:t>cost-</a:t>
            </a:r>
            <a:r>
              <a:rPr dirty="0" sz="1500">
                <a:latin typeface="Times New Roman"/>
                <a:cs typeface="Times New Roman"/>
              </a:rPr>
              <a:t>effective</a:t>
            </a:r>
            <a:r>
              <a:rPr dirty="0" sz="1500" spc="6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20">
                <a:latin typeface="Times New Roman"/>
                <a:cs typeface="Times New Roman"/>
              </a:rPr>
              <a:t>user-</a:t>
            </a:r>
            <a:r>
              <a:rPr dirty="0" sz="1500">
                <a:latin typeface="Times New Roman"/>
                <a:cs typeface="Times New Roman"/>
              </a:rPr>
              <a:t>friendly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home</a:t>
            </a:r>
            <a:r>
              <a:rPr dirty="0" sz="1500" spc="65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security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>
                <a:latin typeface="Times New Roman"/>
                <a:cs typeface="Times New Roman"/>
              </a:rPr>
              <a:t>prototype</a:t>
            </a:r>
            <a:r>
              <a:rPr dirty="0" sz="1500" spc="70">
                <a:latin typeface="Times New Roman"/>
                <a:cs typeface="Times New Roman"/>
              </a:rPr>
              <a:t>  </a:t>
            </a:r>
            <a:r>
              <a:rPr dirty="0" sz="1500" spc="-20">
                <a:latin typeface="Times New Roman"/>
                <a:cs typeface="Times New Roman"/>
              </a:rPr>
              <a:t>that </a:t>
            </a:r>
            <a:r>
              <a:rPr dirty="0" sz="1500">
                <a:latin typeface="Times New Roman"/>
                <a:cs typeface="Times New Roman"/>
              </a:rPr>
              <a:t>demonstrates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potential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IoT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AI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integration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smart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home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safety.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90068" y="81280"/>
            <a:ext cx="6979920" cy="6588759"/>
          </a:xfrm>
          <a:custGeom>
            <a:avLst/>
            <a:gdLst/>
            <a:ahLst/>
            <a:cxnLst/>
            <a:rect l="l" t="t" r="r" b="b"/>
            <a:pathLst>
              <a:path w="6979920" h="6588759">
                <a:moveTo>
                  <a:pt x="0" y="6588633"/>
                </a:moveTo>
                <a:lnTo>
                  <a:pt x="6979539" y="6588633"/>
                </a:lnTo>
                <a:lnTo>
                  <a:pt x="6979539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8728" y="135381"/>
            <a:ext cx="2948305" cy="708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LITERATURE</a:t>
            </a:r>
            <a:r>
              <a:rPr dirty="0" sz="1600" spc="-8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SURVEY: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Literature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Survey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follows: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13372" y="985900"/>
          <a:ext cx="6609715" cy="5376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4425"/>
                <a:gridCol w="651510"/>
                <a:gridCol w="1487805"/>
                <a:gridCol w="2382520"/>
                <a:gridCol w="881379"/>
              </a:tblGrid>
              <a:tr h="368300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565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05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published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92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r>
                        <a:rPr dirty="0" sz="105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Notes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062355">
                <a:tc>
                  <a:txBody>
                    <a:bodyPr/>
                    <a:lstStyle/>
                    <a:p>
                      <a:pPr marL="29209" marR="361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2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Home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Monitoring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 ESP32-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CAM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Surveillance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7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2021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28384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Pradeep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Palkar,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Prashant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Bangar,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Pranita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Chandhare,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Sahil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Jadhav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78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ESP32-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CAM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motion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send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Telegram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bot;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storage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required. (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IJRASET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200" spc="-6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Mirror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ESP32-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CAM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7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2022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Nikita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D.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Sane,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Nikita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 marR="11303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Sawant,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R.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Pal,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Shreeraj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Jain,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Prof.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Paurnima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Vadak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19050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mirror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measures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temperature,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oxygen,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pulse,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voice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alerts,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health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monitoring.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IJRASET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200" spc="-5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890269">
                <a:tc>
                  <a:txBody>
                    <a:bodyPr/>
                    <a:lstStyle/>
                    <a:p>
                      <a:pPr marL="29209" marR="20002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Tilt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Surveillance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 ESP32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7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2023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Adithya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Umare,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Harsh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Ukey,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Om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Umale,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Ujjwal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Patil,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Omkar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Umbarje,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1885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compact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remotely-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controlled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movable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ESP32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surveillance;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setup. (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4"/>
                        </a:rPr>
                        <a:t>IJRASET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200" spc="-6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marL="29209" marR="1409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Building Management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 ESP32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7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1720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Chandrashekar,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P.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Vaishnavi,</a:t>
                      </a:r>
                      <a:r>
                        <a:rPr dirty="0" sz="12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D.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Neeharika,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N.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Suchitha,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Rohith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628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Integrates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dirty="0"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(PIR,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LDR,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IR,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ultrasonic)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ESP32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Thing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Speak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automation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monitoring.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200" spc="-5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1189355">
                <a:tc>
                  <a:txBody>
                    <a:bodyPr/>
                    <a:lstStyle/>
                    <a:p>
                      <a:pPr marL="29209" marR="387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Mirror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Displaying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7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2019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Preeti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Rani,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Indra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Thanaya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 marR="29908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Mirror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personalized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(weather,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time,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data)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electronics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programming.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Times New Roman"/>
                          <a:cs typeface="Times New Roman"/>
                          <a:hlinkClick r:id="rId5"/>
                        </a:rPr>
                        <a:t>IJERT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200" spc="-6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2E5496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290068" y="81280"/>
            <a:ext cx="6979920" cy="6588759"/>
          </a:xfrm>
          <a:custGeom>
            <a:avLst/>
            <a:gdLst/>
            <a:ahLst/>
            <a:cxnLst/>
            <a:rect l="l" t="t" r="r" b="b"/>
            <a:pathLst>
              <a:path w="6979920" h="6588759">
                <a:moveTo>
                  <a:pt x="0" y="6588633"/>
                </a:moveTo>
                <a:lnTo>
                  <a:pt x="6979539" y="6588633"/>
                </a:lnTo>
                <a:lnTo>
                  <a:pt x="6979539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32" y="115600"/>
            <a:ext cx="7011034" cy="662685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98728" y="326517"/>
            <a:ext cx="11296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Continue…..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722" y="680719"/>
            <a:ext cx="6520180" cy="5700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5920" y="409702"/>
            <a:ext cx="6739255" cy="257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SYSTEM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REQURIMENTS: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Software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Requirements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are: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95"/>
              </a:lnSpc>
              <a:spcBef>
                <a:spcPts val="1345"/>
              </a:spcBef>
            </a:pPr>
            <a:r>
              <a:rPr dirty="0" sz="1400">
                <a:latin typeface="Times New Roman"/>
                <a:cs typeface="Times New Roman"/>
              </a:rPr>
              <a:t>Micro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Python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libraries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follows: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10"/>
              </a:lnSpc>
            </a:pPr>
            <a:r>
              <a:rPr dirty="0" sz="1400">
                <a:latin typeface="Times New Roman"/>
                <a:cs typeface="Times New Roman"/>
              </a:rPr>
              <a:t>NumPy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(np):NumPy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numerical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handling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15"/>
              </a:lnSpc>
            </a:pPr>
            <a:r>
              <a:rPr dirty="0" sz="1400" spc="-10">
                <a:latin typeface="Times New Roman"/>
                <a:cs typeface="Times New Roman"/>
              </a:rPr>
              <a:t>arrays.</a:t>
            </a:r>
            <a:endParaRPr sz="1400">
              <a:latin typeface="Times New Roman"/>
              <a:cs typeface="Times New Roman"/>
            </a:endParaRPr>
          </a:p>
          <a:p>
            <a:pPr marL="12700" marR="351790">
              <a:lnSpc>
                <a:spcPts val="1510"/>
              </a:lnSpc>
              <a:spcBef>
                <a:spcPts val="110"/>
              </a:spcBef>
            </a:pPr>
            <a:r>
              <a:rPr dirty="0" sz="1400">
                <a:latin typeface="Times New Roman"/>
                <a:cs typeface="Times New Roman"/>
              </a:rPr>
              <a:t>PIL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(Image):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opening,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converting,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received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camera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stream.</a:t>
            </a:r>
            <a:endParaRPr sz="1400">
              <a:latin typeface="Times New Roman"/>
              <a:cs typeface="Times New Roman"/>
            </a:endParaRPr>
          </a:p>
          <a:p>
            <a:pPr marL="12700" marR="74930">
              <a:lnSpc>
                <a:spcPts val="1510"/>
              </a:lnSpc>
              <a:spcBef>
                <a:spcPts val="5"/>
              </a:spcBef>
            </a:pPr>
            <a:r>
              <a:rPr dirty="0" sz="1400" spc="-10">
                <a:latin typeface="Times New Roman"/>
                <a:cs typeface="Times New Roman"/>
              </a:rPr>
              <a:t>Requests: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library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fetches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ESP32-CAM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HTTP </a:t>
            </a:r>
            <a:r>
              <a:rPr dirty="0" sz="1400" spc="-10">
                <a:latin typeface="Times New Roman"/>
                <a:cs typeface="Times New Roman"/>
              </a:rPr>
              <a:t>link.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400" b="1">
                <a:latin typeface="Times New Roman"/>
                <a:cs typeface="Times New Roman"/>
              </a:rPr>
              <a:t>Hardware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Requirements: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76822" y="120395"/>
            <a:ext cx="7153275" cy="6617334"/>
            <a:chOff x="176822" y="120395"/>
            <a:chExt cx="7153275" cy="6617334"/>
          </a:xfrm>
        </p:grpSpPr>
        <p:sp>
          <p:nvSpPr>
            <p:cNvPr id="4" name="object 4" descr=""/>
            <p:cNvSpPr/>
            <p:nvPr/>
          </p:nvSpPr>
          <p:spPr>
            <a:xfrm>
              <a:off x="191109" y="134683"/>
              <a:ext cx="7124700" cy="6588759"/>
            </a:xfrm>
            <a:custGeom>
              <a:avLst/>
              <a:gdLst/>
              <a:ahLst/>
              <a:cxnLst/>
              <a:rect l="l" t="t" r="r" b="b"/>
              <a:pathLst>
                <a:path w="7124700" h="6588759">
                  <a:moveTo>
                    <a:pt x="0" y="6588633"/>
                  </a:moveTo>
                  <a:lnTo>
                    <a:pt x="7124446" y="6588633"/>
                  </a:lnTo>
                  <a:lnTo>
                    <a:pt x="7124446" y="0"/>
                  </a:lnTo>
                  <a:lnTo>
                    <a:pt x="0" y="0"/>
                  </a:lnTo>
                  <a:lnTo>
                    <a:pt x="0" y="6588633"/>
                  </a:lnTo>
                  <a:close/>
                </a:path>
              </a:pathLst>
            </a:custGeom>
            <a:ln w="285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778" y="3101962"/>
              <a:ext cx="5810503" cy="279781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669160" y="6192723"/>
            <a:ext cx="40513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Figure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01: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ARDUINO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MODULE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FRAMEWORK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510" y="772223"/>
            <a:ext cx="4224782" cy="497878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551302" y="5954979"/>
            <a:ext cx="22961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Figure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02:ESP32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CAM </a:t>
            </a:r>
            <a:r>
              <a:rPr dirty="0" sz="1400" spc="-10">
                <a:latin typeface="Times New Roman"/>
                <a:cs typeface="Times New Roman"/>
              </a:rPr>
              <a:t>Module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1109" y="134683"/>
            <a:ext cx="7124700" cy="6588759"/>
          </a:xfrm>
          <a:custGeom>
            <a:avLst/>
            <a:gdLst/>
            <a:ahLst/>
            <a:cxnLst/>
            <a:rect l="l" t="t" r="r" b="b"/>
            <a:pathLst>
              <a:path w="7124700" h="6588759">
                <a:moveTo>
                  <a:pt x="0" y="6588633"/>
                </a:moveTo>
                <a:lnTo>
                  <a:pt x="7124446" y="6588633"/>
                </a:lnTo>
                <a:lnTo>
                  <a:pt x="7124446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66496" y="375030"/>
            <a:ext cx="30626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Continue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of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Hardware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component: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6204" y="375030"/>
            <a:ext cx="1891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BLOCK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DIAGRAM: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7472" y="160020"/>
            <a:ext cx="7394575" cy="6577965"/>
            <a:chOff x="97472" y="160020"/>
            <a:chExt cx="7394575" cy="6577965"/>
          </a:xfrm>
        </p:grpSpPr>
        <p:sp>
          <p:nvSpPr>
            <p:cNvPr id="4" name="object 4" descr=""/>
            <p:cNvSpPr/>
            <p:nvPr/>
          </p:nvSpPr>
          <p:spPr>
            <a:xfrm>
              <a:off x="111760" y="174307"/>
              <a:ext cx="7366000" cy="6549390"/>
            </a:xfrm>
            <a:custGeom>
              <a:avLst/>
              <a:gdLst/>
              <a:ahLst/>
              <a:cxnLst/>
              <a:rect l="l" t="t" r="r" b="b"/>
              <a:pathLst>
                <a:path w="7366000" h="6549390">
                  <a:moveTo>
                    <a:pt x="0" y="6549008"/>
                  </a:moveTo>
                  <a:lnTo>
                    <a:pt x="7366000" y="6549008"/>
                  </a:lnTo>
                  <a:lnTo>
                    <a:pt x="7366000" y="0"/>
                  </a:lnTo>
                  <a:lnTo>
                    <a:pt x="0" y="0"/>
                  </a:lnTo>
                  <a:lnTo>
                    <a:pt x="0" y="6549008"/>
                  </a:lnTo>
                  <a:close/>
                </a:path>
              </a:pathLst>
            </a:custGeom>
            <a:ln w="285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875525"/>
              <a:ext cx="7284719" cy="544461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459" y="5973267"/>
            <a:ext cx="67043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Figure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02: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Diagram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AI-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ESP32-CAM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Arduino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Uno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1399" y="150063"/>
            <a:ext cx="7040880" cy="462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839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IMPLEMENTATION: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600"/>
              </a:lnSpc>
            </a:pP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ESP32-</a:t>
            </a:r>
            <a:r>
              <a:rPr dirty="0" sz="1400" spc="-10">
                <a:latin typeface="Times New Roman"/>
                <a:cs typeface="Times New Roman"/>
              </a:rPr>
              <a:t>CAM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Video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Stream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Person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Detection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79614"/>
            <a:ext cx="7559040" cy="57255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3176" y="414654"/>
            <a:ext cx="2653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MODEL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DEMONSTRATION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91109" y="134683"/>
            <a:ext cx="7124700" cy="6588759"/>
          </a:xfrm>
          <a:custGeom>
            <a:avLst/>
            <a:gdLst/>
            <a:ahLst/>
            <a:cxnLst/>
            <a:rect l="l" t="t" r="r" b="b"/>
            <a:pathLst>
              <a:path w="7124700" h="6588759">
                <a:moveTo>
                  <a:pt x="0" y="6588633"/>
                </a:moveTo>
                <a:lnTo>
                  <a:pt x="7124446" y="6588633"/>
                </a:lnTo>
                <a:lnTo>
                  <a:pt x="7124446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20725" y="5964428"/>
            <a:ext cx="6694805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43815">
              <a:lnSpc>
                <a:spcPts val="1510"/>
              </a:lnSpc>
              <a:spcBef>
                <a:spcPts val="295"/>
              </a:spcBef>
            </a:pPr>
            <a:r>
              <a:rPr dirty="0" sz="1400">
                <a:latin typeface="Times New Roman"/>
                <a:cs typeface="Times New Roman"/>
              </a:rPr>
              <a:t>Figure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03:Prototype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ESP32-CAM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Smart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System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8681" y="861415"/>
            <a:ext cx="6947534" cy="4966335"/>
            <a:chOff x="318681" y="861415"/>
            <a:chExt cx="6947534" cy="49663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0117" y="861415"/>
              <a:ext cx="3535807" cy="49663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681" y="861415"/>
              <a:ext cx="3361690" cy="4966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9849" y="243332"/>
            <a:ext cx="1119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imes New Roman"/>
                <a:cs typeface="Times New Roman"/>
              </a:rPr>
              <a:t>RESULTS: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91109" y="134683"/>
            <a:ext cx="7124700" cy="6588759"/>
          </a:xfrm>
          <a:custGeom>
            <a:avLst/>
            <a:gdLst/>
            <a:ahLst/>
            <a:cxnLst/>
            <a:rect l="l" t="t" r="r" b="b"/>
            <a:pathLst>
              <a:path w="7124700" h="6588759">
                <a:moveTo>
                  <a:pt x="0" y="6588633"/>
                </a:moveTo>
                <a:lnTo>
                  <a:pt x="7124446" y="6588633"/>
                </a:lnTo>
                <a:lnTo>
                  <a:pt x="7124446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41121" y="6298488"/>
            <a:ext cx="6438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Figure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04:Real-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 Detection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 Python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 </a:t>
            </a:r>
            <a:r>
              <a:rPr dirty="0" sz="1800" spc="-20">
                <a:latin typeface="Times New Roman"/>
                <a:cs typeface="Times New Roman"/>
              </a:rPr>
              <a:t>ESP32-</a:t>
            </a:r>
            <a:r>
              <a:rPr dirty="0" sz="1800" spc="-25">
                <a:latin typeface="Times New Roman"/>
                <a:cs typeface="Times New Roman"/>
              </a:rPr>
              <a:t>CAM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52" y="856475"/>
            <a:ext cx="6923785" cy="50350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59" y="647827"/>
            <a:ext cx="14662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CONCLUSION: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95427" y="1826513"/>
            <a:ext cx="6772275" cy="277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76835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proposed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 spc="-10" b="1">
                <a:latin typeface="Times New Roman"/>
                <a:cs typeface="Times New Roman"/>
              </a:rPr>
              <a:t>ESP32-CAM-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85" b="1">
                <a:latin typeface="Times New Roman"/>
                <a:cs typeface="Times New Roman"/>
              </a:rPr>
              <a:t>  </a:t>
            </a:r>
            <a:r>
              <a:rPr dirty="0" sz="1400" b="1">
                <a:latin typeface="Times New Roman"/>
                <a:cs typeface="Times New Roman"/>
              </a:rPr>
              <a:t>home</a:t>
            </a:r>
            <a:r>
              <a:rPr dirty="0" sz="1400" spc="85" b="1">
                <a:latin typeface="Times New Roman"/>
                <a:cs typeface="Times New Roman"/>
              </a:rPr>
              <a:t>  </a:t>
            </a: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95" b="1">
                <a:latin typeface="Times New Roman"/>
                <a:cs typeface="Times New Roman"/>
              </a:rPr>
              <a:t>  </a:t>
            </a:r>
            <a:r>
              <a:rPr dirty="0" sz="1400" b="1">
                <a:latin typeface="Times New Roman"/>
                <a:cs typeface="Times New Roman"/>
              </a:rPr>
              <a:t>system</a:t>
            </a:r>
            <a:r>
              <a:rPr dirty="0" sz="1400" spc="80" b="1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smart,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70000"/>
              </a:lnSpc>
            </a:pPr>
            <a:r>
              <a:rPr dirty="0" sz="1400">
                <a:latin typeface="Times New Roman"/>
                <a:cs typeface="Times New Roman"/>
              </a:rPr>
              <a:t>reliable,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cost-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residential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safety.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integrating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advanced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4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processing,</a:t>
            </a:r>
            <a:r>
              <a:rPr dirty="0" sz="1400" spc="48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motion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detection,</a:t>
            </a:r>
            <a:r>
              <a:rPr dirty="0" sz="1400" spc="4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4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alerts,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accurate</a:t>
            </a:r>
            <a:r>
              <a:rPr dirty="0" sz="1400" spc="4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intrusion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 response.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system’s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capability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mobile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convenience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control.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low-</a:t>
            </a:r>
            <a:r>
              <a:rPr dirty="0" sz="1400">
                <a:latin typeface="Times New Roman"/>
                <a:cs typeface="Times New Roman"/>
              </a:rPr>
              <a:t>cost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makes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accessible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maintaining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performance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reliability.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Overall,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project </a:t>
            </a:r>
            <a:r>
              <a:rPr dirty="0" sz="1400">
                <a:latin typeface="Times New Roman"/>
                <a:cs typeface="Times New Roman"/>
              </a:rPr>
              <a:t>successfully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addresses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limitations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sets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new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benchmark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intelligent,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user-</a:t>
            </a:r>
            <a:r>
              <a:rPr dirty="0" sz="1400">
                <a:latin typeface="Times New Roman"/>
                <a:cs typeface="Times New Roman"/>
              </a:rPr>
              <a:t>friendly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home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1109" y="134683"/>
            <a:ext cx="7124700" cy="6588759"/>
          </a:xfrm>
          <a:custGeom>
            <a:avLst/>
            <a:gdLst/>
            <a:ahLst/>
            <a:cxnLst/>
            <a:rect l="l" t="t" r="r" b="b"/>
            <a:pathLst>
              <a:path w="7124700" h="6588759">
                <a:moveTo>
                  <a:pt x="0" y="6588633"/>
                </a:moveTo>
                <a:lnTo>
                  <a:pt x="7124446" y="6588633"/>
                </a:lnTo>
                <a:lnTo>
                  <a:pt x="7124446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211" y="351536"/>
            <a:ext cx="1457325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REFERENCES: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91109" y="134683"/>
            <a:ext cx="7124700" cy="6588759"/>
          </a:xfrm>
          <a:custGeom>
            <a:avLst/>
            <a:gdLst/>
            <a:ahLst/>
            <a:cxnLst/>
            <a:rect l="l" t="t" r="r" b="b"/>
            <a:pathLst>
              <a:path w="7124700" h="6588759">
                <a:moveTo>
                  <a:pt x="0" y="6588633"/>
                </a:moveTo>
                <a:lnTo>
                  <a:pt x="7124446" y="6588633"/>
                </a:lnTo>
                <a:lnTo>
                  <a:pt x="7124446" y="0"/>
                </a:lnTo>
                <a:lnTo>
                  <a:pt x="0" y="0"/>
                </a:lnTo>
                <a:lnTo>
                  <a:pt x="0" y="6588633"/>
                </a:lnTo>
                <a:close/>
              </a:path>
            </a:pathLst>
          </a:custGeom>
          <a:ln w="28575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47548" y="830960"/>
            <a:ext cx="6391275" cy="546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Design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and</a:t>
            </a:r>
            <a:r>
              <a:rPr dirty="0" sz="900" spc="-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Build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Home</a:t>
            </a:r>
            <a:r>
              <a:rPr dirty="0" sz="900" spc="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Security</a:t>
            </a:r>
            <a:r>
              <a:rPr dirty="0" sz="900" spc="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Based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on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an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ESP32-CAM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Microcontroller</a:t>
            </a:r>
            <a:r>
              <a:rPr dirty="0" sz="900" spc="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with</a:t>
            </a:r>
            <a:r>
              <a:rPr dirty="0" sz="900" spc="-4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Telegram</a:t>
            </a:r>
            <a:r>
              <a:rPr dirty="0" sz="900" spc="-10" b="1">
                <a:latin typeface="Times New Roman"/>
                <a:cs typeface="Times New Roman"/>
              </a:rPr>
              <a:t> Notification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Filantropi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Y.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A. Cahyono,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Nugroho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Suharto,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Lis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Diana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Mustafa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(2022).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ESP32-CAM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captures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intruder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images 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sends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them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via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Telegram.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Demonstrates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reliable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remote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alerts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real-time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monitoring.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AutoNum type="arabicPeriod" startAt="2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Smart</a:t>
            </a:r>
            <a:r>
              <a:rPr dirty="0" sz="900" spc="15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Wi-</a:t>
            </a:r>
            <a:r>
              <a:rPr dirty="0" sz="900" b="1">
                <a:latin typeface="Times New Roman"/>
                <a:cs typeface="Times New Roman"/>
              </a:rPr>
              <a:t>Fi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Door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Lock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ESP32-CAM</a:t>
            </a:r>
            <a:r>
              <a:rPr dirty="0" sz="900" spc="-4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and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the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Blynk</a:t>
            </a:r>
            <a:r>
              <a:rPr dirty="0" sz="900" spc="-25" b="1">
                <a:latin typeface="Times New Roman"/>
                <a:cs typeface="Times New Roman"/>
              </a:rPr>
              <a:t> App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J.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Rohit,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K.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K.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Naveen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Kumar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Integrates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ESP32-CAM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Blynk for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IoT-</a:t>
            </a:r>
            <a:r>
              <a:rPr dirty="0" sz="900">
                <a:latin typeface="Times New Roman"/>
                <a:cs typeface="Times New Roman"/>
              </a:rPr>
              <a:t>based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door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locking.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Enables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camera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monitoring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remote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access control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via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smartphone.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3"/>
              <a:tabLst>
                <a:tab pos="240665" algn="l"/>
              </a:tabLst>
            </a:pPr>
            <a:r>
              <a:rPr dirty="0" sz="900" spc="-10" b="1">
                <a:latin typeface="Times New Roman"/>
                <a:cs typeface="Times New Roman"/>
              </a:rPr>
              <a:t>Wi-</a:t>
            </a:r>
            <a:r>
              <a:rPr dirty="0" sz="900" b="1">
                <a:latin typeface="Times New Roman"/>
                <a:cs typeface="Times New Roman"/>
              </a:rPr>
              <a:t>Fi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Door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Lock</a:t>
            </a:r>
            <a:r>
              <a:rPr dirty="0" sz="900" spc="-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ESP32-CAM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Based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on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spc="-25" b="1">
                <a:latin typeface="Times New Roman"/>
                <a:cs typeface="Times New Roman"/>
              </a:rPr>
              <a:t>IoT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Manikandan,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Ramesh </a:t>
            </a:r>
            <a:r>
              <a:rPr dirty="0" sz="900" spc="-10">
                <a:latin typeface="Times New Roman"/>
                <a:cs typeface="Times New Roman"/>
              </a:rPr>
              <a:t>(2021).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 spc="-10">
                <a:latin typeface="Times New Roman"/>
                <a:cs typeface="Times New Roman"/>
              </a:rPr>
              <a:t>Demonstrates</a:t>
            </a:r>
            <a:r>
              <a:rPr dirty="0" sz="900">
                <a:latin typeface="Times New Roman"/>
                <a:cs typeface="Times New Roman"/>
              </a:rPr>
              <a:t> door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control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via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face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recognition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IoT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cloud.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Highlights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secure and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user-friendly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access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management.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AutoNum type="arabicPeriod" startAt="4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Home</a:t>
            </a:r>
            <a:r>
              <a:rPr dirty="0" sz="900" spc="-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Door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Security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with</a:t>
            </a:r>
            <a:r>
              <a:rPr dirty="0" sz="900" spc="-5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Face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Recognition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</a:t>
            </a:r>
            <a:r>
              <a:rPr dirty="0" sz="900" spc="-25" b="1">
                <a:latin typeface="Times New Roman"/>
                <a:cs typeface="Times New Roman"/>
              </a:rPr>
              <a:t>CAM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Babu,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R. K.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Reddy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et al.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Implements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AI-</a:t>
            </a:r>
            <a:r>
              <a:rPr dirty="0" sz="900">
                <a:latin typeface="Times New Roman"/>
                <a:cs typeface="Times New Roman"/>
              </a:rPr>
              <a:t>based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facial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recognition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door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access.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ESP32-CAM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sends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alerts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captured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images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remote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verification.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AutoNum type="arabicPeriod" startAt="5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Smart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Home</a:t>
            </a:r>
            <a:r>
              <a:rPr dirty="0" sz="900" spc="-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Warning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4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</a:t>
            </a:r>
            <a:r>
              <a:rPr dirty="0" sz="900" spc="-25" b="1">
                <a:latin typeface="Times New Roman"/>
                <a:cs typeface="Times New Roman"/>
              </a:rPr>
              <a:t>CAM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Times New Roman"/>
                <a:cs typeface="Times New Roman"/>
              </a:rPr>
              <a:t>P.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Palkar,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Bangar,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Jadhav</a:t>
            </a:r>
            <a:r>
              <a:rPr dirty="0" sz="900" spc="-10">
                <a:latin typeface="Times New Roman"/>
                <a:cs typeface="Times New Roman"/>
              </a:rPr>
              <a:t> (2023).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ESP32-CAM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detects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motion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sends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real-</a:t>
            </a:r>
            <a:r>
              <a:rPr dirty="0" sz="900">
                <a:latin typeface="Times New Roman"/>
                <a:cs typeface="Times New Roman"/>
              </a:rPr>
              <a:t>time alerts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 images.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Provides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low-</a:t>
            </a:r>
            <a:r>
              <a:rPr dirty="0" sz="900">
                <a:latin typeface="Times New Roman"/>
                <a:cs typeface="Times New Roman"/>
              </a:rPr>
              <a:t>cost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IoT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surveillance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without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cloud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dependency.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6"/>
              <a:tabLst>
                <a:tab pos="240665" algn="l"/>
              </a:tabLst>
            </a:pPr>
            <a:r>
              <a:rPr dirty="0" sz="900" spc="-10" b="1">
                <a:latin typeface="Times New Roman"/>
                <a:cs typeface="Times New Roman"/>
              </a:rPr>
              <a:t>IoT-</a:t>
            </a:r>
            <a:r>
              <a:rPr dirty="0" sz="900" b="1">
                <a:latin typeface="Times New Roman"/>
                <a:cs typeface="Times New Roman"/>
              </a:rPr>
              <a:t>Based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Home Monitoring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ESP32-CAM</a:t>
            </a:r>
            <a:r>
              <a:rPr dirty="0" sz="900" spc="-50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Surveillance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Pradeep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Palkar,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Prashant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Bangar,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Pranita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Chandhare,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Sahil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Jadhav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(2021).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Uses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ESP32-CAM</a:t>
            </a:r>
            <a:r>
              <a:rPr dirty="0" sz="900" spc="-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motion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detection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capture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images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send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alerts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via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Telegram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bot;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low-cost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cloud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storage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required.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AutoNum type="arabicPeriod" startAt="7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Health</a:t>
            </a:r>
            <a:r>
              <a:rPr dirty="0" sz="900" spc="-4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Mirror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ESP32-</a:t>
            </a:r>
            <a:r>
              <a:rPr dirty="0" sz="900" spc="-25" b="1">
                <a:latin typeface="Times New Roman"/>
                <a:cs typeface="Times New Roman"/>
              </a:rPr>
              <a:t>CAM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Nikita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Sane,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Nikita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Sawant,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Priya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Pal,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Shreeaj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Jain,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Prof.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Paurnima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Vadak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(2022).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 spc="-10">
                <a:latin typeface="Times New Roman"/>
                <a:cs typeface="Times New Roman"/>
              </a:rPr>
              <a:t>IoT-</a:t>
            </a:r>
            <a:r>
              <a:rPr dirty="0" sz="900">
                <a:latin typeface="Times New Roman"/>
                <a:cs typeface="Times New Roman"/>
              </a:rPr>
              <a:t>based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mirror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measures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temperature,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oxygen,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pulse,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voice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alerts,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image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capture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health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monitoring.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8"/>
              <a:tabLst>
                <a:tab pos="240665" algn="l"/>
              </a:tabLst>
            </a:pPr>
            <a:r>
              <a:rPr dirty="0" sz="900" spc="-10" b="1">
                <a:latin typeface="Times New Roman"/>
                <a:cs typeface="Times New Roman"/>
              </a:rPr>
              <a:t>Wi-</a:t>
            </a:r>
            <a:r>
              <a:rPr dirty="0" sz="900" b="1">
                <a:latin typeface="Times New Roman"/>
                <a:cs typeface="Times New Roman"/>
              </a:rPr>
              <a:t>Fi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Pan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Tilt</a:t>
            </a:r>
            <a:r>
              <a:rPr dirty="0" sz="900" spc="-4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Surveillance Camera</a:t>
            </a:r>
            <a:r>
              <a:rPr dirty="0" sz="900" spc="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spc="-20" b="1">
                <a:latin typeface="Times New Roman"/>
                <a:cs typeface="Times New Roman"/>
              </a:rPr>
              <a:t>ESP32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Adithya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Umare,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Harsh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Ukey,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Om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Umale,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Ujjwal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Patil,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Omkar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Umbarje,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al.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(2023).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Proposes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compact </a:t>
            </a:r>
            <a:r>
              <a:rPr dirty="0" sz="900" spc="-10">
                <a:latin typeface="Times New Roman"/>
                <a:cs typeface="Times New Roman"/>
              </a:rPr>
              <a:t>remotely-</a:t>
            </a:r>
            <a:r>
              <a:rPr dirty="0" sz="900">
                <a:latin typeface="Times New Roman"/>
                <a:cs typeface="Times New Roman"/>
              </a:rPr>
              <a:t>controlled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movable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camera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using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ESP32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surveillance;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easy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setup.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AutoNum type="arabicPeriod" startAt="9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Smart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Building</a:t>
            </a:r>
            <a:r>
              <a:rPr dirty="0" sz="900" spc="-4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Management</a:t>
            </a:r>
            <a:r>
              <a:rPr dirty="0" sz="900" spc="-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System</a:t>
            </a:r>
            <a:r>
              <a:rPr dirty="0" sz="900" spc="-4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Using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spc="-20" b="1">
                <a:latin typeface="Times New Roman"/>
                <a:cs typeface="Times New Roman"/>
              </a:rPr>
              <a:t>ESP32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G.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Chandrashekar,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P.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Vaishnavi,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Neeharika, N.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Suchitha,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T. Rohith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(2020).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Integrates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multiple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sensors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(PIR,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LDR, IR,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ultrasonic)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ESP32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Thing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Speak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automation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monitoring.</a:t>
            </a:r>
            <a:endParaRPr sz="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AutoNum type="arabicPeriod" startAt="10"/>
              <a:tabLst>
                <a:tab pos="240665" algn="l"/>
              </a:tabLst>
            </a:pPr>
            <a:r>
              <a:rPr dirty="0" sz="900" b="1">
                <a:latin typeface="Times New Roman"/>
                <a:cs typeface="Times New Roman"/>
              </a:rPr>
              <a:t>Design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&amp;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Development</a:t>
            </a:r>
            <a:r>
              <a:rPr dirty="0" sz="900" spc="3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of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Smart</a:t>
            </a:r>
            <a:r>
              <a:rPr dirty="0" sz="900" spc="1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Mirror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Displaying</a:t>
            </a:r>
            <a:r>
              <a:rPr dirty="0" sz="900" spc="-10" b="1">
                <a:latin typeface="Times New Roman"/>
                <a:cs typeface="Times New Roman"/>
              </a:rPr>
              <a:t> Real-</a:t>
            </a:r>
            <a:r>
              <a:rPr dirty="0" sz="900" b="1">
                <a:latin typeface="Times New Roman"/>
                <a:cs typeface="Times New Roman"/>
              </a:rPr>
              <a:t>Time</a:t>
            </a:r>
            <a:r>
              <a:rPr dirty="0" sz="900" spc="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Sensor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 spc="-20" b="1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Preeti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Rani,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Indra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Thanaya </a:t>
            </a:r>
            <a:r>
              <a:rPr dirty="0" sz="900" spc="-10">
                <a:latin typeface="Times New Roman"/>
                <a:cs typeface="Times New Roman"/>
              </a:rPr>
              <a:t>(2019).</a:t>
            </a:r>
            <a:endParaRPr sz="9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900">
                <a:latin typeface="Times New Roman"/>
                <a:cs typeface="Times New Roman"/>
              </a:rPr>
              <a:t>Mirror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displays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personalized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data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(weather, time, sensor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data)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by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integrating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electronics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programming.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50545" marR="5080" indent="-53848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Thank </a:t>
            </a:r>
            <a:r>
              <a:rPr dirty="0" spc="-935"/>
              <a:t>Y</a:t>
            </a:r>
            <a:r>
              <a:rPr dirty="0" spc="-50"/>
              <a:t>ou.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95312" y="801852"/>
            <a:ext cx="6429375" cy="5151120"/>
            <a:chOff x="595312" y="801852"/>
            <a:chExt cx="6429375" cy="5151120"/>
          </a:xfrm>
        </p:grpSpPr>
        <p:sp>
          <p:nvSpPr>
            <p:cNvPr id="4" name="object 4" descr=""/>
            <p:cNvSpPr/>
            <p:nvPr/>
          </p:nvSpPr>
          <p:spPr>
            <a:xfrm>
              <a:off x="609600" y="816140"/>
              <a:ext cx="6400800" cy="5122545"/>
            </a:xfrm>
            <a:custGeom>
              <a:avLst/>
              <a:gdLst/>
              <a:ahLst/>
              <a:cxnLst/>
              <a:rect l="l" t="t" r="r" b="b"/>
              <a:pathLst>
                <a:path w="6400800" h="5122545">
                  <a:moveTo>
                    <a:pt x="0" y="5122545"/>
                  </a:moveTo>
                  <a:lnTo>
                    <a:pt x="6400800" y="5122545"/>
                  </a:lnTo>
                  <a:lnTo>
                    <a:pt x="6400800" y="0"/>
                  </a:lnTo>
                  <a:lnTo>
                    <a:pt x="0" y="0"/>
                  </a:lnTo>
                  <a:lnTo>
                    <a:pt x="0" y="5122545"/>
                  </a:lnTo>
                  <a:close/>
                </a:path>
              </a:pathLst>
            </a:custGeom>
            <a:ln w="28575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3484" y="4238708"/>
              <a:ext cx="179701" cy="1750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 Dhavaleshwar</dc:creator>
  <dcterms:created xsi:type="dcterms:W3CDTF">2026-03-19T07:48:00Z</dcterms:created>
  <dcterms:modified xsi:type="dcterms:W3CDTF">2026-03-19T07:48:00Z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2026-03-19T00:00:00Z</vt:filetime>
  </property>
  <property fmtid="{D5CDD505-2E9C-101B-9397-08002B2CF9AE}" pid="5" name="Producer">
    <vt:lpwstr>Microsoft® PowerPoint® for Microsoft 365</vt:lpwstr>
  </property>
</Properties>
</file>